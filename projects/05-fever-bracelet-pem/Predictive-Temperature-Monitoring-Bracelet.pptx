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1" r:id="rId4"/>
    <p:sldId id="267" r:id="rId5"/>
    <p:sldId id="268" r:id="rId6"/>
    <p:sldId id="270" r:id="rId7"/>
    <p:sldId id="271" r:id="rId8"/>
    <p:sldId id="277" r:id="rId9"/>
    <p:sldId id="275" r:id="rId10"/>
  </p:sldIdLst>
  <p:sldSz cx="14630400" cy="8229600"/>
  <p:notesSz cx="8229600" cy="14630400"/>
  <p:embeddedFontLst>
    <p:embeddedFont>
      <p:font typeface="Bit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4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003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8:29.35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24484,'3871'90'0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8:34.137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24450,'3901'62'0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7:47.81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8:01.588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6 24384,'3933'0'0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8:05.82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0 24510,'4234'0'0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8:19.532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24575,'962'0'0,"-930"2"0,0 1 0,34 8 0,-32-5 0,51 3 0,16-10 0,38 2 0,-129 1 0,-1 0 0,1 1 0,0-1 0,-1 2 0,0 0 0,15 8 0,-13-7 0,-1 0 0,1-1 0,0 0 0,18 5 0,23-4 0,0-1 0,86-7 0,-45 1 0,0 0 0,156 4 0,-208 3 0,75 17 0,2 2 0,9-14 0,193-8 0,-147-4 0,249 2-1365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7:46.841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0 24375,'3902'60'0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7:49.82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1 24575,'4'3'0,"0"0"0,-1 0 0,2-1 0,-1 0 0,0 1 0,0-1 0,1-1 0,-1 1 0,1-1 0,-1 1 0,1-1 0,4 0 0,63 3 0,-56-3 0,41 1 0,-1 2 0,97 20 0,-95-12 0,0-3 0,1-3 0,93-1 0,2093-9 0,-1208 6 0,-887-2-1365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7:50.413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7:52.653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9:11.13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63 24575,'374'2'0,"457"-5"0,-364-26 0,-80 3 0,473 20 0,-487 8 0,302-2-1365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9:12.70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1 244 24575,'220'1'0,"482"-14"0,-280-7 0,-162-8 0,-81 6 0,63-8 0,151-9 0,-44 13 0,-292 21 0,-26 0 0,1 0 0,41-15 0,-46 12 0,0 1 0,0 1 0,52-4 0,383 9 0,-202 4 0,-109-3-1365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49:15.28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0 333 24529,'4022'-332'0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3:01:27.685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06.42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08.869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11.018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24532,'3962'0'0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17.910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0 23892,'4205'0'0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21.98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1 24575,'1854'0'0,"-1664"17"0,-2-1 0,701-16 0,-379-1 0,-473-1 169,69-12 1,-65 7-1022,47-2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1:56:22.74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21:53.264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3 24575,'1280'0'0,"-1080"15"0,-47-2 0,439-8 0,-353-6 0,-16-16 0,-4 1 0,-176 16 0,101-2 0,198 24 0,-234-12 3,179-6 0,-155-6-1374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21:56.207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1 18 24517,'4294'0'0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1T12:21:59.909"/>
    </inkml:context>
    <inkml:brush xml:id="br0">
      <inkml:brushProperty name="width" value="0.35" units="cm"/>
      <inkml:brushProperty name="height" value="0.35" units="cm"/>
      <inkml:brushProperty name="color" value="#333333"/>
    </inkml:brush>
  </inkml:definitions>
  <inkml:trace contextRef="#ctx0" brushRef="#br0">0 0 24540,'4053'62'0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37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11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svg"/><Relationship Id="rId15" Type="http://schemas.openxmlformats.org/officeDocument/2006/relationships/image" Target="../media/image22.png"/><Relationship Id="rId10" Type="http://schemas.openxmlformats.org/officeDocument/2006/relationships/customXml" Target="../ink/ink11.xml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0.xml"/><Relationship Id="rId3" Type="http://schemas.openxmlformats.org/officeDocument/2006/relationships/image" Target="../media/image27.png"/><Relationship Id="rId7" Type="http://schemas.openxmlformats.org/officeDocument/2006/relationships/customXml" Target="../ink/ink17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6.xml"/><Relationship Id="rId11" Type="http://schemas.openxmlformats.org/officeDocument/2006/relationships/customXml" Target="../ink/ink19.xml"/><Relationship Id="rId5" Type="http://schemas.openxmlformats.org/officeDocument/2006/relationships/image" Target="../media/image6.png"/><Relationship Id="rId10" Type="http://schemas.openxmlformats.org/officeDocument/2006/relationships/image" Target="../media/image29.png"/><Relationship Id="rId4" Type="http://schemas.openxmlformats.org/officeDocument/2006/relationships/customXml" Target="../ink/ink15.xml"/><Relationship Id="rId9" Type="http://schemas.openxmlformats.org/officeDocument/2006/relationships/customXml" Target="../ink/ink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customXml" Target="../ink/ink2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Predictive Temperature Monitoring Bracelet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471511"/>
            <a:ext cx="2545913" cy="426244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16278" y="4539496"/>
            <a:ext cx="22737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INVENTORY DEPARTMENT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39451" y="4463891"/>
            <a:ext cx="240280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083159" y="4539496"/>
            <a:ext cx="21153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OPERATIONS OVERVIEW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80190" y="51605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Prepared for Headquarters | Inventory Department Presentation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8121DA-80DE-4F9E-4112-AB7271EE0C8F}"/>
                  </a:ext>
                </a:extLst>
              </p14:cNvPr>
              <p14:cNvContentPartPr/>
              <p14:nvPr/>
            </p14:nvContentPartPr>
            <p14:xfrm>
              <a:off x="13007606" y="7880983"/>
              <a:ext cx="1393920" cy="32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8121DA-80DE-4F9E-4112-AB7271EE0C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44966" y="7817983"/>
                <a:ext cx="15195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E28EB6-D332-21D8-87EE-7F9357DACC35}"/>
                  </a:ext>
                </a:extLst>
              </p14:cNvPr>
              <p14:cNvContentPartPr/>
              <p14:nvPr/>
            </p14:nvContentPartPr>
            <p14:xfrm>
              <a:off x="12986006" y="7989343"/>
              <a:ext cx="1405080" cy="2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E28EB6-D332-21D8-87EE-7F9357DACC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23366" y="7926343"/>
                <a:ext cx="1530720" cy="14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8061"/>
            <a:ext cx="81570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Product Reliability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9496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Predictive detection using temperature trend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2000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Offline alert system (buzzer, vibration, LED)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6422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Environmental compensation sensors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70844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Multi-bracelet redundancy support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81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Safety Margins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3949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Early warning system forecasts temperature spikes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58371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single point of failure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62793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Battery health monitoring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67215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Placement detection technology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4F7F466-EDFA-743E-3957-A8A91E455024}"/>
                  </a:ext>
                </a:extLst>
              </p14:cNvPr>
              <p14:cNvContentPartPr/>
              <p14:nvPr/>
            </p14:nvContentPartPr>
            <p14:xfrm>
              <a:off x="1545566" y="5747263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4F7F466-EDFA-743E-3957-A8A91E4550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2566" y="568426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1BC36A0-A260-DFAE-7910-32AAACBBAE03}"/>
                  </a:ext>
                </a:extLst>
              </p14:cNvPr>
              <p14:cNvContentPartPr/>
              <p14:nvPr/>
            </p14:nvContentPartPr>
            <p14:xfrm>
              <a:off x="12975206" y="7880983"/>
              <a:ext cx="1415880" cy="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1BC36A0-A260-DFAE-7910-32AAACBBAE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12206" y="7754983"/>
                <a:ext cx="1541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55D0AE-0653-A544-CD55-54D53A6EF952}"/>
                  </a:ext>
                </a:extLst>
              </p14:cNvPr>
              <p14:cNvContentPartPr/>
              <p14:nvPr/>
            </p14:nvContentPartPr>
            <p14:xfrm>
              <a:off x="12920846" y="8000863"/>
              <a:ext cx="1524240" cy="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55D0AE-0653-A544-CD55-54D53A6EF9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57846" y="7874863"/>
                <a:ext cx="16498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7B8319A-023D-1E2B-AF7B-AEB7873BAFC0}"/>
                  </a:ext>
                </a:extLst>
              </p14:cNvPr>
              <p14:cNvContentPartPr/>
              <p14:nvPr/>
            </p14:nvContentPartPr>
            <p14:xfrm>
              <a:off x="13019126" y="8011663"/>
              <a:ext cx="1296000" cy="55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7B8319A-023D-1E2B-AF7B-AEB7873BAF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56486" y="7948663"/>
                <a:ext cx="1421640" cy="18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0202" y="414099"/>
            <a:ext cx="4011573" cy="468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FMEA Results &amp; Actions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202" y="1182886"/>
            <a:ext cx="9489996" cy="53143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0202" y="6815971"/>
            <a:ext cx="18754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Critical Priority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570202" y="7200305"/>
            <a:ext cx="456199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Case failure addressed through stronger materials, drop testing, and child-safe design improvements.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505819" y="6815971"/>
            <a:ext cx="18754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Controlled Risk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05819" y="7200305"/>
            <a:ext cx="456199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Sensor failure lowest RPN due to medical-grade components, waterproofing, and self-diagnostics.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D055BB-7092-8FA5-7AD2-5ABF66CEC7E3}"/>
                  </a:ext>
                </a:extLst>
              </p14:cNvPr>
              <p14:cNvContentPartPr/>
              <p14:nvPr/>
            </p14:nvContentPartPr>
            <p14:xfrm>
              <a:off x="12996806" y="7870183"/>
              <a:ext cx="1405080" cy="21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D055BB-7092-8FA5-7AD2-5ABF66CEC7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33806" y="7807183"/>
                <a:ext cx="15307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1CEFF01-17EE-37EE-CF05-B9C70281282A}"/>
              </a:ext>
            </a:extLst>
          </p:cNvPr>
          <p:cNvGrpSpPr/>
          <p:nvPr/>
        </p:nvGrpSpPr>
        <p:grpSpPr>
          <a:xfrm>
            <a:off x="12953966" y="7978543"/>
            <a:ext cx="1523880" cy="65880"/>
            <a:chOff x="12953966" y="7978543"/>
            <a:chExt cx="1523880" cy="6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2AA583-0CDF-ECEB-D03D-624CA0872AC3}"/>
                    </a:ext>
                  </a:extLst>
                </p14:cNvPr>
                <p14:cNvContentPartPr/>
                <p14:nvPr/>
              </p14:nvContentPartPr>
              <p14:xfrm>
                <a:off x="12953966" y="7978543"/>
                <a:ext cx="1502640" cy="33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2AA583-0CDF-ECEB-D03D-624CA0872A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90966" y="7915903"/>
                  <a:ext cx="1628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DEB2ED-8192-4F21-DA7A-803B2EF9841C}"/>
                    </a:ext>
                  </a:extLst>
                </p14:cNvPr>
                <p14:cNvContentPartPr/>
                <p14:nvPr/>
              </p14:nvContentPartPr>
              <p14:xfrm>
                <a:off x="14477486" y="7989343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DEB2ED-8192-4F21-DA7A-803B2EF984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14846" y="792670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6BC279-2F51-024E-D67E-9A96657EB78A}"/>
                    </a:ext>
                  </a:extLst>
                </p14:cNvPr>
                <p14:cNvContentPartPr/>
                <p14:nvPr/>
              </p14:nvContentPartPr>
              <p14:xfrm>
                <a:off x="13029926" y="8044063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6BC279-2F51-024E-D67E-9A96657EB7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67286" y="79810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0764" y="914757"/>
            <a:ext cx="5841206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Risk Assessment Framework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0764" y="1739741"/>
            <a:ext cx="7895273" cy="85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Our inventory risk management uses a structured approach combining Risk Breakdown Structure (RBS) and a 4×4 Probability-Impact Matrix to identify, evaluate, and prioritize risks systematically.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0764" y="2796897"/>
            <a:ext cx="3858458" cy="2312551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89119" y="2975253"/>
            <a:ext cx="535186" cy="535186"/>
          </a:xfrm>
          <a:prstGeom prst="roundRect">
            <a:avLst>
              <a:gd name="adj" fmla="val 1708394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6281" y="3122295"/>
            <a:ext cx="240863" cy="24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9119" y="3688794"/>
            <a:ext cx="264592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Risk Breakdown Structure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89119" y="4074557"/>
            <a:ext cx="3501747" cy="85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Organized categorization of all potential risks affecting inventory operations, from high-level to detailed sources.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147578" y="2796897"/>
            <a:ext cx="3858458" cy="2312551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325933" y="2975253"/>
            <a:ext cx="535186" cy="535186"/>
          </a:xfrm>
          <a:prstGeom prst="roundRect">
            <a:avLst>
              <a:gd name="adj" fmla="val 1708394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095" y="3122295"/>
            <a:ext cx="240863" cy="2408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25933" y="3688794"/>
            <a:ext cx="268866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Probability-Impact Matrix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325933" y="4074557"/>
            <a:ext cx="3501747" cy="85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4×4 assessment tool evaluating likelihood (1-4) and consequence (1-4) to calculate risk scores and prioritize actions.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10764" y="5287804"/>
            <a:ext cx="7895273" cy="2027039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289119" y="5466159"/>
            <a:ext cx="535186" cy="535186"/>
          </a:xfrm>
          <a:prstGeom prst="roundRect">
            <a:avLst>
              <a:gd name="adj" fmla="val 1708394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6281" y="5613202"/>
            <a:ext cx="240863" cy="2408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9119" y="6179701"/>
            <a:ext cx="223027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Risk Prioritization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289119" y="6565463"/>
            <a:ext cx="7538561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Color-coded zones: Green (1-3) monitor, Yellow (4-6) manage, Red (8-9) mitigate, Dark Red (12-16) critical priority.</a:t>
            </a:r>
            <a:endParaRPr lang="en-US" sz="1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AAF154-ADD9-7CED-AD42-0C21FA7FA1AD}"/>
              </a:ext>
            </a:extLst>
          </p:cNvPr>
          <p:cNvGrpSpPr/>
          <p:nvPr/>
        </p:nvGrpSpPr>
        <p:grpSpPr>
          <a:xfrm>
            <a:off x="12942446" y="7836343"/>
            <a:ext cx="1472400" cy="154080"/>
            <a:chOff x="12942446" y="7836343"/>
            <a:chExt cx="147240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C77F10-209D-C473-3AA8-80F8BA403D2D}"/>
                    </a:ext>
                  </a:extLst>
                </p14:cNvPr>
                <p14:cNvContentPartPr/>
                <p14:nvPr/>
              </p14:nvContentPartPr>
              <p14:xfrm>
                <a:off x="12986366" y="7836343"/>
                <a:ext cx="142848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C77F10-209D-C473-3AA8-80F8BA403D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23366" y="7773703"/>
                  <a:ext cx="1554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3F110A-8C7E-8530-D369-58CD5FED4605}"/>
                    </a:ext>
                  </a:extLst>
                </p14:cNvPr>
                <p14:cNvContentPartPr/>
                <p14:nvPr/>
              </p14:nvContentPartPr>
              <p14:xfrm>
                <a:off x="12942446" y="7901863"/>
                <a:ext cx="1437840" cy="8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3F110A-8C7E-8530-D369-58CD5FED46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79806" y="7838863"/>
                  <a:ext cx="156348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396D1E5-037A-9F2D-B3CD-0AA62D8448E0}"/>
                  </a:ext>
                </a:extLst>
              </p14:cNvPr>
              <p14:cNvContentPartPr/>
              <p14:nvPr/>
            </p14:nvContentPartPr>
            <p14:xfrm>
              <a:off x="13029926" y="7956943"/>
              <a:ext cx="1448280" cy="119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396D1E5-037A-9F2D-B3CD-0AA62D8448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66926" y="7894303"/>
                <a:ext cx="1573920" cy="24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3451" y="388739"/>
            <a:ext cx="981313" cy="265747"/>
          </a:xfrm>
          <a:prstGeom prst="roundRect">
            <a:avLst>
              <a:gd name="adj" fmla="val 6385"/>
            </a:avLst>
          </a:prstGeom>
          <a:solidFill>
            <a:srgbClr val="2A2C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8223" y="431125"/>
            <a:ext cx="81176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843451" y="711041"/>
            <a:ext cx="3534966" cy="44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Inventory Risks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451" y="1364933"/>
            <a:ext cx="8943499" cy="50082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43451" y="6673572"/>
            <a:ext cx="176748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Critical Priority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43451" y="7035879"/>
            <a:ext cx="429934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Demand &amp; Forecasting (16):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Highest severity requiring immediate attention. Inaccurate forecasting disrupts entire supply chain and production schedules.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5223" y="6673572"/>
            <a:ext cx="176748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Risk Areas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5223" y="7035879"/>
            <a:ext cx="429934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Supplier &amp; Material (9), Quality Inspection (8):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Significant impact on inventory availability and product reliability requiring active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886" y="892492"/>
            <a:ext cx="1789152" cy="342186"/>
          </a:xfrm>
          <a:prstGeom prst="roundRect">
            <a:avLst>
              <a:gd name="adj" fmla="val 6102"/>
            </a:avLst>
          </a:prstGeom>
          <a:noFill/>
          <a:ln w="762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20804" y="952262"/>
            <a:ext cx="15653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BUSINESS CONTINUITY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8886" y="1304211"/>
            <a:ext cx="4358521" cy="54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Contingency Planning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08886" y="2282666"/>
            <a:ext cx="2243733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Receiving Department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8886" y="2728436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Backup staffing for peak hours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8886" y="3345775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Alternative unloading equipment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8886" y="3963114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Emergency documentation protocol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72088" y="2282666"/>
            <a:ext cx="2174796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Storage Department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372088" y="2728436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Manual bin verification protocol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372088" y="3345775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Emergency label reprint station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372088" y="3963114"/>
            <a:ext cx="2331244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Temporary overflow storage zones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35291" y="2282666"/>
            <a:ext cx="217824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Dispatch Department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35291" y="2728436"/>
            <a:ext cx="2414826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Secondary picking list system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35291" y="3345775"/>
            <a:ext cx="2414826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Quality double-check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135291" y="3684865"/>
            <a:ext cx="2414826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Emergency packaging supplies</a:t>
            </a:r>
            <a:endParaRPr lang="en-US" sz="13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86" y="4776073"/>
            <a:ext cx="869871" cy="128051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52707" y="4950023"/>
            <a:ext cx="2458998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Failure Response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652707" y="5326142"/>
            <a:ext cx="6882408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Cloud-based backup, offline picking lists, manual verification processes activated within 15 minutes.</a:t>
            </a:r>
            <a:endParaRPr lang="en-US" sz="13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86" y="6056590"/>
            <a:ext cx="869871" cy="12805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52707" y="6230541"/>
            <a:ext cx="2530435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Shipment Delay Handling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652707" y="6606659"/>
            <a:ext cx="6882408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Alternative courier agreements, priority routing protocols, customer communication within 1 hour of delay detection.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2C48BBF-6E2F-8970-B205-D9241390DD5C}"/>
                  </a:ext>
                </a:extLst>
              </p14:cNvPr>
              <p14:cNvContentPartPr/>
              <p14:nvPr/>
            </p14:nvContentPartPr>
            <p14:xfrm>
              <a:off x="3581006" y="4908823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2C48BBF-6E2F-8970-B205-D9241390DD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8006" y="484618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5521" y="356473"/>
            <a:ext cx="3644979" cy="40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Cost Structure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215521" y="1085493"/>
            <a:ext cx="1928336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11.7K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3369469" y="1675209"/>
            <a:ext cx="1620322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Monthly Labor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15521" y="1955483"/>
            <a:ext cx="1928336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JOD across 4 departments: Receiving, Storage, Dispatch, and Planning teams.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5782" y="1085493"/>
            <a:ext cx="1928336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6.65K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5459730" y="1675209"/>
            <a:ext cx="1620322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Monthly Overhead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5782" y="1955483"/>
            <a:ext cx="1928336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JOD for facilities, operations, IT systems, and logistics support.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96043" y="1085493"/>
            <a:ext cx="1928336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20K</a:t>
            </a:r>
            <a:endParaRPr lang="en-US" sz="3350" dirty="0"/>
          </a:p>
        </p:txBody>
      </p:sp>
      <p:sp>
        <p:nvSpPr>
          <p:cNvPr id="10" name="Text 8"/>
          <p:cNvSpPr/>
          <p:nvPr/>
        </p:nvSpPr>
        <p:spPr>
          <a:xfrm>
            <a:off x="7549991" y="1675209"/>
            <a:ext cx="1620322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Total Monthly Cost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96043" y="1955483"/>
            <a:ext cx="1928336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JOD combined operational expenses for inventory department.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86305" y="1085493"/>
            <a:ext cx="1928455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220K</a:t>
            </a:r>
            <a:endParaRPr lang="en-US" sz="3350" dirty="0"/>
          </a:p>
        </p:txBody>
      </p:sp>
      <p:sp>
        <p:nvSpPr>
          <p:cNvPr id="13" name="Text 11"/>
          <p:cNvSpPr/>
          <p:nvPr/>
        </p:nvSpPr>
        <p:spPr>
          <a:xfrm>
            <a:off x="9640372" y="1675209"/>
            <a:ext cx="1620322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Annual Investment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486305" y="1955483"/>
            <a:ext cx="1928455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JOD yearly cost ensuring reliable inventory operations and supply chain continuity.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521" y="2723436"/>
            <a:ext cx="8199239" cy="443138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45481" y="7185303"/>
            <a:ext cx="129540" cy="129540"/>
          </a:xfrm>
          <a:prstGeom prst="roundRect">
            <a:avLst>
              <a:gd name="adj" fmla="val 14118"/>
            </a:avLst>
          </a:prstGeom>
          <a:solidFill>
            <a:srgbClr val="333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35981" y="7185303"/>
            <a:ext cx="697468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Labor Costs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4557" y="7185303"/>
            <a:ext cx="129540" cy="129540"/>
          </a:xfrm>
          <a:prstGeom prst="roundRect">
            <a:avLst>
              <a:gd name="adj" fmla="val 14118"/>
            </a:avLst>
          </a:prstGeom>
          <a:solidFill>
            <a:srgbClr val="5E6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15057" y="7185303"/>
            <a:ext cx="1049893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Facility &amp; Utilities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6180" y="7185303"/>
            <a:ext cx="129540" cy="129540"/>
          </a:xfrm>
          <a:prstGeom prst="roundRect">
            <a:avLst>
              <a:gd name="adj" fmla="val 14118"/>
            </a:avLst>
          </a:prstGeom>
          <a:solidFill>
            <a:srgbClr val="8A9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76680" y="7185303"/>
            <a:ext cx="1267301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Logistics &amp; Transport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46983" y="7185303"/>
            <a:ext cx="129540" cy="129540"/>
          </a:xfrm>
          <a:prstGeom prst="roundRect">
            <a:avLst>
              <a:gd name="adj" fmla="val 14118"/>
            </a:avLst>
          </a:prstGeom>
          <a:solidFill>
            <a:srgbClr val="ADB3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37483" y="7185303"/>
            <a:ext cx="1286351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Inventory Operations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896832" y="7185303"/>
            <a:ext cx="129540" cy="129540"/>
          </a:xfrm>
          <a:prstGeom prst="roundRect">
            <a:avLst>
              <a:gd name="adj" fmla="val 14118"/>
            </a:avLst>
          </a:prstGeom>
          <a:solidFill>
            <a:srgbClr val="D1D3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087332" y="7185303"/>
            <a:ext cx="762000" cy="129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 &amp; Systems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15521" y="7460694"/>
            <a:ext cx="8199239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Cost Optimization Focus: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Labor represents 64% of total costs. Efficiency improvements through automation, process optimization, and staff training offer significant savings potential while maintaining service quality.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9A9425-1207-63C1-F09F-AA4024FDD157}"/>
                  </a:ext>
                </a:extLst>
              </p14:cNvPr>
              <p14:cNvContentPartPr/>
              <p14:nvPr/>
            </p14:nvContentPartPr>
            <p14:xfrm>
              <a:off x="3646166" y="3831343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9A9425-1207-63C1-F09F-AA4024FDD1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3526" y="37687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A02B916-668B-EE9D-1718-940DF54BE262}"/>
                  </a:ext>
                </a:extLst>
              </p14:cNvPr>
              <p14:cNvContentPartPr/>
              <p14:nvPr/>
            </p14:nvContentPartPr>
            <p14:xfrm>
              <a:off x="12964766" y="7891783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A02B916-668B-EE9D-1718-940DF54BE2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01766" y="782914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BE90DDF-39D4-844E-601D-7DC5447599CC}"/>
                  </a:ext>
                </a:extLst>
              </p14:cNvPr>
              <p14:cNvContentPartPr/>
              <p14:nvPr/>
            </p14:nvContentPartPr>
            <p14:xfrm>
              <a:off x="12964406" y="7891783"/>
              <a:ext cx="1426680" cy="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BE90DDF-39D4-844E-601D-7DC5447599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01766" y="7765783"/>
                <a:ext cx="1552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7899E15-4E61-8CB2-9988-F3D054540529}"/>
                  </a:ext>
                </a:extLst>
              </p14:cNvPr>
              <p14:cNvContentPartPr/>
              <p14:nvPr/>
            </p14:nvContentPartPr>
            <p14:xfrm>
              <a:off x="12964406" y="7989343"/>
              <a:ext cx="1514160" cy="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7899E15-4E61-8CB2-9988-F3D0545405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01766" y="7863343"/>
                <a:ext cx="16398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905EBED-E0A5-8B94-A134-79DCA515A650}"/>
                  </a:ext>
                </a:extLst>
              </p14:cNvPr>
              <p14:cNvContentPartPr/>
              <p14:nvPr/>
            </p14:nvContentPartPr>
            <p14:xfrm>
              <a:off x="13007966" y="8054503"/>
              <a:ext cx="1405440" cy="12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905EBED-E0A5-8B94-A134-79DCA515A6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944966" y="7991863"/>
                <a:ext cx="1531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C460877-D073-E3E3-8D29-390AD2DA48B3}"/>
                  </a:ext>
                </a:extLst>
              </p14:cNvPr>
              <p14:cNvContentPartPr/>
              <p14:nvPr/>
            </p14:nvContentPartPr>
            <p14:xfrm>
              <a:off x="14477486" y="7902583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C460877-D073-E3E3-8D29-390AD2DA48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14846" y="783994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A874D-51FE-57C4-9423-C36239F0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7" y="1249669"/>
            <a:ext cx="14066365" cy="57302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574ECF-E7C3-2DAE-DEE5-B02E67401E20}"/>
                  </a:ext>
                </a:extLst>
              </p14:cNvPr>
              <p14:cNvContentPartPr/>
              <p14:nvPr/>
            </p14:nvContentPartPr>
            <p14:xfrm>
              <a:off x="12986366" y="7857943"/>
              <a:ext cx="1426680" cy="1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574ECF-E7C3-2DAE-DEE5-B02E67401E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23366" y="7794943"/>
                <a:ext cx="15523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16B1E0-1D76-29A1-F9E7-9C90E3A8AF2F}"/>
                  </a:ext>
                </a:extLst>
              </p14:cNvPr>
              <p14:cNvContentPartPr/>
              <p14:nvPr/>
            </p14:nvContentPartPr>
            <p14:xfrm>
              <a:off x="12931646" y="7978543"/>
              <a:ext cx="154656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16B1E0-1D76-29A1-F9E7-9C90E3A8AF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9006" y="7852543"/>
                <a:ext cx="1672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269DF47-B77D-CE10-9745-A21AEA6915EE}"/>
                  </a:ext>
                </a:extLst>
              </p14:cNvPr>
              <p14:cNvContentPartPr/>
              <p14:nvPr/>
            </p14:nvContentPartPr>
            <p14:xfrm>
              <a:off x="12996806" y="8044063"/>
              <a:ext cx="1459440" cy="22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269DF47-B77D-CE10-9745-A21AEA6915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33806" y="7981063"/>
                <a:ext cx="1585080" cy="1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387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B66206-1ED9-EBD1-24FB-106B0E8E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51" y="1133059"/>
            <a:ext cx="10176846" cy="58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2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456</Words>
  <Application>Microsoft Office PowerPoint</Application>
  <PresentationFormat>Custom</PresentationFormat>
  <Paragraphs>78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Bitter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OMAR ABDALJALEEL</cp:lastModifiedBy>
  <cp:revision>4</cp:revision>
  <dcterms:created xsi:type="dcterms:W3CDTF">2026-01-11T10:09:37Z</dcterms:created>
  <dcterms:modified xsi:type="dcterms:W3CDTF">2026-01-12T12:09:38Z</dcterms:modified>
</cp:coreProperties>
</file>