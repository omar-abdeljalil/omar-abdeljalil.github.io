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2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D6351-BC7D-4AC0-976F-27594D9B3380}" v="6" dt="2026-06-15T07:31:56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ABDALJALEEL" userId="259837be-036b-47dc-92ae-6cfdc7b007c4" providerId="ADAL" clId="{A1ED4F51-8B09-43A0-9609-032CEE91A144}"/>
    <pc:docChg chg="undo custSel modSld sldOrd">
      <pc:chgData name="OMAR ABDALJALEEL" userId="259837be-036b-47dc-92ae-6cfdc7b007c4" providerId="ADAL" clId="{A1ED4F51-8B09-43A0-9609-032CEE91A144}" dt="2026-06-15T07:35:53.399" v="85" actId="20577"/>
      <pc:docMkLst>
        <pc:docMk/>
      </pc:docMkLst>
      <pc:sldChg chg="addSp delSp modSp mod">
        <pc:chgData name="OMAR ABDALJALEEL" userId="259837be-036b-47dc-92ae-6cfdc7b007c4" providerId="ADAL" clId="{A1ED4F51-8B09-43A0-9609-032CEE91A144}" dt="2026-06-15T07:31:38.306" v="19" actId="14100"/>
        <pc:sldMkLst>
          <pc:docMk/>
          <pc:sldMk cId="0" sldId="261"/>
        </pc:sldMkLst>
        <pc:spChg chg="del">
          <ac:chgData name="OMAR ABDALJALEEL" userId="259837be-036b-47dc-92ae-6cfdc7b007c4" providerId="ADAL" clId="{A1ED4F51-8B09-43A0-9609-032CEE91A144}" dt="2026-06-15T07:31:22.260" v="15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1:22.260" v="15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1:24.261" v="16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1:22.260" v="15" actId="478"/>
          <ac:spMkLst>
            <pc:docMk/>
            <pc:sldMk cId="0" sldId="261"/>
            <ac:spMk id="16" creationId="{00000000-0000-0000-0000-000000000000}"/>
          </ac:spMkLst>
        </pc:spChg>
        <pc:spChg chg="add del">
          <ac:chgData name="OMAR ABDALJALEEL" userId="259837be-036b-47dc-92ae-6cfdc7b007c4" providerId="ADAL" clId="{A1ED4F51-8B09-43A0-9609-032CEE91A144}" dt="2026-06-15T07:31:07.680" v="12" actId="478"/>
          <ac:spMkLst>
            <pc:docMk/>
            <pc:sldMk cId="0" sldId="261"/>
            <ac:spMk id="23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1:22.260" v="15" actId="478"/>
          <ac:spMkLst>
            <pc:docMk/>
            <pc:sldMk cId="0" sldId="261"/>
            <ac:spMk id="25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1:22.260" v="15" actId="478"/>
          <ac:spMkLst>
            <pc:docMk/>
            <pc:sldMk cId="0" sldId="261"/>
            <ac:spMk id="26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1:22.260" v="15" actId="478"/>
          <ac:spMkLst>
            <pc:docMk/>
            <pc:sldMk cId="0" sldId="261"/>
            <ac:spMk id="28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1:22.260" v="15" actId="478"/>
          <ac:spMkLst>
            <pc:docMk/>
            <pc:sldMk cId="0" sldId="261"/>
            <ac:spMk id="30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1:22.260" v="15" actId="478"/>
          <ac:spMkLst>
            <pc:docMk/>
            <pc:sldMk cId="0" sldId="261"/>
            <ac:spMk id="32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1:22.260" v="15" actId="478"/>
          <ac:spMkLst>
            <pc:docMk/>
            <pc:sldMk cId="0" sldId="261"/>
            <ac:spMk id="35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1:22.260" v="15" actId="478"/>
          <ac:spMkLst>
            <pc:docMk/>
            <pc:sldMk cId="0" sldId="261"/>
            <ac:spMk id="36" creationId="{00000000-0000-0000-0000-000000000000}"/>
          </ac:spMkLst>
        </pc:spChg>
        <pc:spChg chg="add del">
          <ac:chgData name="OMAR ABDALJALEEL" userId="259837be-036b-47dc-92ae-6cfdc7b007c4" providerId="ADAL" clId="{A1ED4F51-8B09-43A0-9609-032CEE91A144}" dt="2026-06-15T07:31:07.680" v="12" actId="478"/>
          <ac:spMkLst>
            <pc:docMk/>
            <pc:sldMk cId="0" sldId="261"/>
            <ac:spMk id="41" creationId="{00000000-0000-0000-0000-000000000000}"/>
          </ac:spMkLst>
        </pc:spChg>
        <pc:spChg chg="add del">
          <ac:chgData name="OMAR ABDALJALEEL" userId="259837be-036b-47dc-92ae-6cfdc7b007c4" providerId="ADAL" clId="{A1ED4F51-8B09-43A0-9609-032CEE91A144}" dt="2026-06-15T07:31:07.680" v="12" actId="478"/>
          <ac:spMkLst>
            <pc:docMk/>
            <pc:sldMk cId="0" sldId="261"/>
            <ac:spMk id="46" creationId="{00000000-0000-0000-0000-000000000000}"/>
          </ac:spMkLst>
        </pc:spChg>
        <pc:spChg chg="add del">
          <ac:chgData name="OMAR ABDALJALEEL" userId="259837be-036b-47dc-92ae-6cfdc7b007c4" providerId="ADAL" clId="{A1ED4F51-8B09-43A0-9609-032CEE91A144}" dt="2026-06-15T07:31:07.680" v="12" actId="478"/>
          <ac:spMkLst>
            <pc:docMk/>
            <pc:sldMk cId="0" sldId="261"/>
            <ac:spMk id="48" creationId="{00000000-0000-0000-0000-000000000000}"/>
          </ac:spMkLst>
        </pc:spChg>
        <pc:spChg chg="add">
          <ac:chgData name="OMAR ABDALJALEEL" userId="259837be-036b-47dc-92ae-6cfdc7b007c4" providerId="ADAL" clId="{A1ED4F51-8B09-43A0-9609-032CEE91A144}" dt="2026-06-15T07:31:07.680" v="12" actId="478"/>
          <ac:spMkLst>
            <pc:docMk/>
            <pc:sldMk cId="0" sldId="261"/>
            <ac:spMk id="62" creationId="{00000000-0000-0000-0000-000000000000}"/>
          </ac:spMkLst>
        </pc:spChg>
        <pc:spChg chg="add del">
          <ac:chgData name="OMAR ABDALJALEEL" userId="259837be-036b-47dc-92ae-6cfdc7b007c4" providerId="ADAL" clId="{A1ED4F51-8B09-43A0-9609-032CEE91A144}" dt="2026-06-15T07:31:07.680" v="12" actId="478"/>
          <ac:spMkLst>
            <pc:docMk/>
            <pc:sldMk cId="0" sldId="261"/>
            <ac:spMk id="66" creationId="{00000000-0000-0000-0000-000000000000}"/>
          </ac:spMkLst>
        </pc:spChg>
        <pc:spChg chg="add del">
          <ac:chgData name="OMAR ABDALJALEEL" userId="259837be-036b-47dc-92ae-6cfdc7b007c4" providerId="ADAL" clId="{A1ED4F51-8B09-43A0-9609-032CEE91A144}" dt="2026-06-15T07:31:07.680" v="12" actId="478"/>
          <ac:spMkLst>
            <pc:docMk/>
            <pc:sldMk cId="0" sldId="261"/>
            <ac:spMk id="71" creationId="{00000000-0000-0000-0000-000000000000}"/>
          </ac:spMkLst>
        </pc:spChg>
        <pc:spChg chg="add del">
          <ac:chgData name="OMAR ABDALJALEEL" userId="259837be-036b-47dc-92ae-6cfdc7b007c4" providerId="ADAL" clId="{A1ED4F51-8B09-43A0-9609-032CEE91A144}" dt="2026-06-15T07:31:07.680" v="12" actId="478"/>
          <ac:spMkLst>
            <pc:docMk/>
            <pc:sldMk cId="0" sldId="261"/>
            <ac:spMk id="72" creationId="{00000000-0000-0000-0000-000000000000}"/>
          </ac:spMkLst>
        </pc:spChg>
        <pc:spChg chg="add del">
          <ac:chgData name="OMAR ABDALJALEEL" userId="259837be-036b-47dc-92ae-6cfdc7b007c4" providerId="ADAL" clId="{A1ED4F51-8B09-43A0-9609-032CEE91A144}" dt="2026-06-15T07:31:07.680" v="12" actId="478"/>
          <ac:spMkLst>
            <pc:docMk/>
            <pc:sldMk cId="0" sldId="261"/>
            <ac:spMk id="77" creationId="{00000000-0000-0000-0000-000000000000}"/>
          </ac:spMkLst>
        </pc:spChg>
        <pc:spChg chg="add del">
          <ac:chgData name="OMAR ABDALJALEEL" userId="259837be-036b-47dc-92ae-6cfdc7b007c4" providerId="ADAL" clId="{A1ED4F51-8B09-43A0-9609-032CEE91A144}" dt="2026-06-15T07:31:07.680" v="12" actId="478"/>
          <ac:spMkLst>
            <pc:docMk/>
            <pc:sldMk cId="0" sldId="261"/>
            <ac:spMk id="78" creationId="{00000000-0000-0000-0000-000000000000}"/>
          </ac:spMkLst>
        </pc:spChg>
        <pc:spChg chg="add del mod">
          <ac:chgData name="OMAR ABDALJALEEL" userId="259837be-036b-47dc-92ae-6cfdc7b007c4" providerId="ADAL" clId="{A1ED4F51-8B09-43A0-9609-032CEE91A144}" dt="2026-06-15T07:31:07.204" v="11" actId="478"/>
          <ac:spMkLst>
            <pc:docMk/>
            <pc:sldMk cId="0" sldId="261"/>
            <ac:spMk id="90" creationId="{4A92E29F-E70F-C3ED-DCF4-CB43C4432EBE}"/>
          </ac:spMkLst>
        </pc:spChg>
        <pc:spChg chg="add mod">
          <ac:chgData name="OMAR ABDALJALEEL" userId="259837be-036b-47dc-92ae-6cfdc7b007c4" providerId="ADAL" clId="{A1ED4F51-8B09-43A0-9609-032CEE91A144}" dt="2026-06-15T07:30:46.357" v="0" actId="571"/>
          <ac:spMkLst>
            <pc:docMk/>
            <pc:sldMk cId="0" sldId="261"/>
            <ac:spMk id="91" creationId="{5C24980D-EADE-87AE-D0E1-056DA7A504E1}"/>
          </ac:spMkLst>
        </pc:spChg>
        <pc:picChg chg="add mod">
          <ac:chgData name="OMAR ABDALJALEEL" userId="259837be-036b-47dc-92ae-6cfdc7b007c4" providerId="ADAL" clId="{A1ED4F51-8B09-43A0-9609-032CEE91A144}" dt="2026-06-15T07:31:06.751" v="10"/>
          <ac:picMkLst>
            <pc:docMk/>
            <pc:sldMk cId="0" sldId="261"/>
            <ac:picMk id="92" creationId="{1F16D018-8DE4-3C74-EBC0-481A3FBCB861}"/>
          </ac:picMkLst>
        </pc:picChg>
        <pc:picChg chg="add mod">
          <ac:chgData name="OMAR ABDALJALEEL" userId="259837be-036b-47dc-92ae-6cfdc7b007c4" providerId="ADAL" clId="{A1ED4F51-8B09-43A0-9609-032CEE91A144}" dt="2026-06-15T07:31:38.306" v="19" actId="14100"/>
          <ac:picMkLst>
            <pc:docMk/>
            <pc:sldMk cId="0" sldId="261"/>
            <ac:picMk id="93" creationId="{B41C12A9-2E57-EA62-ED2E-DBF21F0652E3}"/>
          </ac:picMkLst>
        </pc:picChg>
      </pc:sldChg>
      <pc:sldChg chg="addSp delSp modSp mod ord">
        <pc:chgData name="OMAR ABDALJALEEL" userId="259837be-036b-47dc-92ae-6cfdc7b007c4" providerId="ADAL" clId="{A1ED4F51-8B09-43A0-9609-032CEE91A144}" dt="2026-06-15T07:35:53.399" v="85" actId="20577"/>
        <pc:sldMkLst>
          <pc:docMk/>
          <pc:sldMk cId="0" sldId="262"/>
        </pc:sldMkLst>
        <pc:spChg chg="mod">
          <ac:chgData name="OMAR ABDALJALEEL" userId="259837be-036b-47dc-92ae-6cfdc7b007c4" providerId="ADAL" clId="{A1ED4F51-8B09-43A0-9609-032CEE91A144}" dt="2026-06-15T07:33:50.788" v="51" actId="1076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OMAR ABDALJALEEL" userId="259837be-036b-47dc-92ae-6cfdc7b007c4" providerId="ADAL" clId="{A1ED4F51-8B09-43A0-9609-032CEE91A144}" dt="2026-06-15T07:32:00.668" v="26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OMAR ABDALJALEEL" userId="259837be-036b-47dc-92ae-6cfdc7b007c4" providerId="ADAL" clId="{A1ED4F51-8B09-43A0-9609-032CEE91A144}" dt="2026-06-15T07:35:42.914" v="74" actId="20577"/>
          <ac:spMkLst>
            <pc:docMk/>
            <pc:sldMk cId="0" sldId="262"/>
            <ac:spMk id="6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52.616" v="46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54.606" v="48" actId="478"/>
          <ac:spMkLst>
            <pc:docMk/>
            <pc:sldMk cId="0" sldId="262"/>
            <ac:spMk id="9" creationId="{00000000-0000-0000-0000-000000000000}"/>
          </ac:spMkLst>
        </pc:spChg>
        <pc:spChg chg="mod">
          <ac:chgData name="OMAR ABDALJALEEL" userId="259837be-036b-47dc-92ae-6cfdc7b007c4" providerId="ADAL" clId="{A1ED4F51-8B09-43A0-9609-032CEE91A144}" dt="2026-06-15T07:35:53.399" v="85" actId="20577"/>
          <ac:spMkLst>
            <pc:docMk/>
            <pc:sldMk cId="0" sldId="262"/>
            <ac:spMk id="10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53.558" v="47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42.988" v="43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1.179" v="34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40.567" v="41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41.391" v="42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9.358" v="40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2.278" v="35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9.358" v="40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9.358" v="40" actId="478"/>
          <ac:spMkLst>
            <pc:docMk/>
            <pc:sldMk cId="0" sldId="262"/>
            <ac:spMk id="22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9.358" v="40" actId="478"/>
          <ac:spMkLst>
            <pc:docMk/>
            <pc:sldMk cId="0" sldId="262"/>
            <ac:spMk id="23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3.120" v="36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9.358" v="40" actId="478"/>
          <ac:spMkLst>
            <pc:docMk/>
            <pc:sldMk cId="0" sldId="262"/>
            <ac:spMk id="25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9.358" v="40" actId="478"/>
          <ac:spMkLst>
            <pc:docMk/>
            <pc:sldMk cId="0" sldId="262"/>
            <ac:spMk id="27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4.824" v="37" actId="478"/>
          <ac:spMkLst>
            <pc:docMk/>
            <pc:sldMk cId="0" sldId="262"/>
            <ac:spMk id="28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9.358" v="40" actId="478"/>
          <ac:spMkLst>
            <pc:docMk/>
            <pc:sldMk cId="0" sldId="262"/>
            <ac:spMk id="31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5.597" v="38" actId="478"/>
          <ac:spMkLst>
            <pc:docMk/>
            <pc:sldMk cId="0" sldId="262"/>
            <ac:spMk id="32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9.358" v="40" actId="478"/>
          <ac:spMkLst>
            <pc:docMk/>
            <pc:sldMk cId="0" sldId="262"/>
            <ac:spMk id="33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9.358" v="40" actId="478"/>
          <ac:spMkLst>
            <pc:docMk/>
            <pc:sldMk cId="0" sldId="262"/>
            <ac:spMk id="34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9.358" v="40" actId="478"/>
          <ac:spMkLst>
            <pc:docMk/>
            <pc:sldMk cId="0" sldId="262"/>
            <ac:spMk id="35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36.630" v="39" actId="478"/>
          <ac:spMkLst>
            <pc:docMk/>
            <pc:sldMk cId="0" sldId="262"/>
            <ac:spMk id="36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9.928" v="29" actId="478"/>
          <ac:spMkLst>
            <pc:docMk/>
            <pc:sldMk cId="0" sldId="262"/>
            <ac:spMk id="39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6.251" v="28" actId="478"/>
          <ac:spMkLst>
            <pc:docMk/>
            <pc:sldMk cId="0" sldId="262"/>
            <ac:spMk id="40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6.251" v="28" actId="478"/>
          <ac:spMkLst>
            <pc:docMk/>
            <pc:sldMk cId="0" sldId="262"/>
            <ac:spMk id="44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9.928" v="29" actId="478"/>
          <ac:spMkLst>
            <pc:docMk/>
            <pc:sldMk cId="0" sldId="262"/>
            <ac:spMk id="54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9.928" v="29" actId="478"/>
          <ac:spMkLst>
            <pc:docMk/>
            <pc:sldMk cId="0" sldId="262"/>
            <ac:spMk id="55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9.928" v="29" actId="478"/>
          <ac:spMkLst>
            <pc:docMk/>
            <pc:sldMk cId="0" sldId="262"/>
            <ac:spMk id="56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6.251" v="28" actId="478"/>
          <ac:spMkLst>
            <pc:docMk/>
            <pc:sldMk cId="0" sldId="262"/>
            <ac:spMk id="63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6.251" v="28" actId="478"/>
          <ac:spMkLst>
            <pc:docMk/>
            <pc:sldMk cId="0" sldId="262"/>
            <ac:spMk id="67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6.251" v="28" actId="478"/>
          <ac:spMkLst>
            <pc:docMk/>
            <pc:sldMk cId="0" sldId="262"/>
            <ac:spMk id="69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6.251" v="28" actId="478"/>
          <ac:spMkLst>
            <pc:docMk/>
            <pc:sldMk cId="0" sldId="262"/>
            <ac:spMk id="70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9.928" v="29" actId="478"/>
          <ac:spMkLst>
            <pc:docMk/>
            <pc:sldMk cId="0" sldId="262"/>
            <ac:spMk id="71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9.928" v="29" actId="478"/>
          <ac:spMkLst>
            <pc:docMk/>
            <pc:sldMk cId="0" sldId="262"/>
            <ac:spMk id="73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6.251" v="28" actId="478"/>
          <ac:spMkLst>
            <pc:docMk/>
            <pc:sldMk cId="0" sldId="262"/>
            <ac:spMk id="75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6.251" v="28" actId="478"/>
          <ac:spMkLst>
            <pc:docMk/>
            <pc:sldMk cId="0" sldId="262"/>
            <ac:spMk id="79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6.251" v="28" actId="478"/>
          <ac:spMkLst>
            <pc:docMk/>
            <pc:sldMk cId="0" sldId="262"/>
            <ac:spMk id="80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6.251" v="28" actId="478"/>
          <ac:spMkLst>
            <pc:docMk/>
            <pc:sldMk cId="0" sldId="262"/>
            <ac:spMk id="83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9.928" v="29" actId="478"/>
          <ac:spMkLst>
            <pc:docMk/>
            <pc:sldMk cId="0" sldId="262"/>
            <ac:spMk id="86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9.928" v="29" actId="478"/>
          <ac:spMkLst>
            <pc:docMk/>
            <pc:sldMk cId="0" sldId="262"/>
            <ac:spMk id="87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9.928" v="29" actId="478"/>
          <ac:spMkLst>
            <pc:docMk/>
            <pc:sldMk cId="0" sldId="262"/>
            <ac:spMk id="88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19.928" v="29" actId="478"/>
          <ac:spMkLst>
            <pc:docMk/>
            <pc:sldMk cId="0" sldId="262"/>
            <ac:spMk id="89" creationId="{00000000-0000-0000-0000-000000000000}"/>
          </ac:spMkLst>
        </pc:spChg>
        <pc:spChg chg="del">
          <ac:chgData name="OMAR ABDALJALEEL" userId="259837be-036b-47dc-92ae-6cfdc7b007c4" providerId="ADAL" clId="{A1ED4F51-8B09-43A0-9609-032CEE91A144}" dt="2026-06-15T07:32:29.822" v="33" actId="478"/>
          <ac:spMkLst>
            <pc:docMk/>
            <pc:sldMk cId="0" sldId="262"/>
            <ac:spMk id="90" creationId="{00000000-0000-0000-0000-000000000000}"/>
          </ac:spMkLst>
        </pc:spChg>
        <pc:spChg chg="del mod">
          <ac:chgData name="OMAR ABDALJALEEL" userId="259837be-036b-47dc-92ae-6cfdc7b007c4" providerId="ADAL" clId="{A1ED4F51-8B09-43A0-9609-032CEE91A144}" dt="2026-06-15T07:32:28.961" v="32" actId="478"/>
          <ac:spMkLst>
            <pc:docMk/>
            <pc:sldMk cId="0" sldId="262"/>
            <ac:spMk id="91" creationId="{00000000-0000-0000-0000-000000000000}"/>
          </ac:spMkLst>
        </pc:spChg>
        <pc:spChg chg="add del mod">
          <ac:chgData name="OMAR ABDALJALEEL" userId="259837be-036b-47dc-92ae-6cfdc7b007c4" providerId="ADAL" clId="{A1ED4F51-8B09-43A0-9609-032CEE91A144}" dt="2026-06-15T07:32:27.357" v="30" actId="478"/>
          <ac:spMkLst>
            <pc:docMk/>
            <pc:sldMk cId="0" sldId="262"/>
            <ac:spMk id="94" creationId="{44642271-C142-9CF1-13D2-DB8D52B27C46}"/>
          </ac:spMkLst>
        </pc:spChg>
        <pc:spChg chg="add mod">
          <ac:chgData name="OMAR ABDALJALEEL" userId="259837be-036b-47dc-92ae-6cfdc7b007c4" providerId="ADAL" clId="{A1ED4F51-8B09-43A0-9609-032CEE91A144}" dt="2026-06-15T07:31:52.588" v="22" actId="571"/>
          <ac:spMkLst>
            <pc:docMk/>
            <pc:sldMk cId="0" sldId="262"/>
            <ac:spMk id="95" creationId="{BF4A8086-B766-52CE-390B-3A3FC690800D}"/>
          </ac:spMkLst>
        </pc:spChg>
        <pc:spChg chg="add del mod">
          <ac:chgData name="OMAR ABDALJALEEL" userId="259837be-036b-47dc-92ae-6cfdc7b007c4" providerId="ADAL" clId="{A1ED4F51-8B09-43A0-9609-032CEE91A144}" dt="2026-06-15T07:31:57.288" v="24" actId="478"/>
          <ac:spMkLst>
            <pc:docMk/>
            <pc:sldMk cId="0" sldId="262"/>
            <ac:spMk id="96" creationId="{C9CD79E0-EF6B-D810-DD8C-0E0391E0A6EA}"/>
          </ac:spMkLst>
        </pc:spChg>
        <pc:spChg chg="add del mod">
          <ac:chgData name="OMAR ABDALJALEEL" userId="259837be-036b-47dc-92ae-6cfdc7b007c4" providerId="ADAL" clId="{A1ED4F51-8B09-43A0-9609-032CEE91A144}" dt="2026-06-15T07:31:57.288" v="24" actId="478"/>
          <ac:spMkLst>
            <pc:docMk/>
            <pc:sldMk cId="0" sldId="262"/>
            <ac:spMk id="97" creationId="{26466B36-88BB-BAE0-B8E8-29183600CDA9}"/>
          </ac:spMkLst>
        </pc:spChg>
        <pc:spChg chg="add del mod">
          <ac:chgData name="OMAR ABDALJALEEL" userId="259837be-036b-47dc-92ae-6cfdc7b007c4" providerId="ADAL" clId="{A1ED4F51-8B09-43A0-9609-032CEE91A144}" dt="2026-06-15T07:31:57.288" v="24" actId="478"/>
          <ac:spMkLst>
            <pc:docMk/>
            <pc:sldMk cId="0" sldId="262"/>
            <ac:spMk id="98" creationId="{55C66D41-6474-689B-BC7F-DC6E3948C09B}"/>
          </ac:spMkLst>
        </pc:spChg>
        <pc:picChg chg="add mod">
          <ac:chgData name="OMAR ABDALJALEEL" userId="259837be-036b-47dc-92ae-6cfdc7b007c4" providerId="ADAL" clId="{A1ED4F51-8B09-43A0-9609-032CEE91A144}" dt="2026-06-15T07:35:38.907" v="65" actId="14100"/>
          <ac:picMkLst>
            <pc:docMk/>
            <pc:sldMk cId="0" sldId="262"/>
            <ac:picMk id="100" creationId="{146426CC-8EC6-AE73-1DA2-755CCE80D90D}"/>
          </ac:picMkLst>
        </pc:picChg>
        <pc:picChg chg="add mod">
          <ac:chgData name="OMAR ABDALJALEEL" userId="259837be-036b-47dc-92ae-6cfdc7b007c4" providerId="ADAL" clId="{A1ED4F51-8B09-43A0-9609-032CEE91A144}" dt="2026-06-15T07:35:33.359" v="63" actId="14100"/>
          <ac:picMkLst>
            <pc:docMk/>
            <pc:sldMk cId="0" sldId="262"/>
            <ac:picMk id="102" creationId="{3968F672-6BE1-19E7-94F2-E385D70AFD9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1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1D4E6B">
              <a:alpha val="35000"/>
            </a:srgbClr>
          </a:solidFill>
          <a:ln w="12700">
            <a:solidFill>
              <a:srgbClr val="1D4E6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E8832A">
              <a:alpha val="22000"/>
            </a:srgbClr>
          </a:solidFill>
          <a:ln w="12700">
            <a:solidFill>
              <a:srgbClr val="E8832A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MANUFACTURING  ·  HTU 101366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Jada Company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Door Production — Lean Analysis &amp; Improvement Plan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2651760"/>
            <a:ext cx="4023360" cy="36576"/>
          </a:xfrm>
          <a:prstGeom prst="rect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200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Abdeljalil  ·  ID: 23110604  ·  Section 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455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</a:t>
            </a:r>
            <a:r>
              <a:rPr lang="en-US" sz="1200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Veellage Al-Quraan  ·  Team: Ibrahim Jada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L/615/1517  ·  Academic Year 2025/2026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 I — 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Origins &amp; Core Lean Principles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theory underpinning this project's tool selection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TPS PILLARS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1828800" cy="1280160"/>
          </a:xfrm>
          <a:prstGeom prst="roundRect">
            <a:avLst>
              <a:gd name="adj" fmla="val 6429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JUST-IN-TIME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only what is needed, when needed — eliminates inventory &amp; waiting waste.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1847088"/>
            <a:ext cx="1828800" cy="1280160"/>
          </a:xfrm>
          <a:prstGeom prst="roundRect">
            <a:avLst>
              <a:gd name="adj" fmla="val 6429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1847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32A"/>
                </a:solidFill>
              </a:rPr>
              <a:t>JIDOKA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212848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 defect. Quality built at the source — never passed downstream.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157276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LEAN PRINCIPLES — APPLIED TO JADA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847088"/>
            <a:ext cx="4434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43400" y="1847088"/>
            <a:ext cx="713232" cy="402336"/>
          </a:xfrm>
          <a:prstGeom prst="roundRect">
            <a:avLst>
              <a:gd name="adj" fmla="val 15909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43400" y="184708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01 VALUE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120640" y="188366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Customised doors meeting hospital/bank specs. Any delay = waste.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2322576"/>
            <a:ext cx="4434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43400" y="2322576"/>
            <a:ext cx="713232" cy="402336"/>
          </a:xfrm>
          <a:prstGeom prst="roundRect">
            <a:avLst>
              <a:gd name="adj" fmla="val 15909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43400" y="23225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02 VALUE STREAM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20640" y="23591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revealed only 15.3% VA time out of 692 total minutes.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2798064"/>
            <a:ext cx="4434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43400" y="2798064"/>
            <a:ext cx="713232" cy="402336"/>
          </a:xfrm>
          <a:prstGeom prst="roundRect">
            <a:avLst>
              <a:gd name="adj" fmla="val 15909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43400" y="279806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03 FLOW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20640" y="28346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Stop-and-go batches; 85% of time consumed by waiting &amp; transport.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3273552"/>
            <a:ext cx="4434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43400" y="3273552"/>
            <a:ext cx="713232" cy="402336"/>
          </a:xfrm>
          <a:prstGeom prst="roundRect">
            <a:avLst>
              <a:gd name="adj" fmla="val 15909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43400" y="32735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04 PULL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20640" y="331012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Make-to-order model aligns naturally — pull minimises overproduction.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43400" y="3749040"/>
            <a:ext cx="4434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43400" y="3749040"/>
            <a:ext cx="713232" cy="402336"/>
          </a:xfrm>
          <a:prstGeom prst="roundRect">
            <a:avLst>
              <a:gd name="adj" fmla="val 15909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43400" y="37490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05 PERFECTION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120640" y="37856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identify defects, optimise finishing, drive Kaizen.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TPS was not pre-planned — it evolved over decades. Lean requires philosophy, not just tools. (Lean_2, Lean_5)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 II — COMPANY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JADA COMPANY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Door Manufacturer — Amman, Jordan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D4E6B">
              <a:alpha val="75000"/>
            </a:srgbClr>
          </a:solidFill>
          <a:ln w="12700">
            <a:solidFill>
              <a:srgbClr val="3A7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1972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years in Jordan's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33472" y="148132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D4E6B">
              <a:alpha val="75000"/>
            </a:srgbClr>
          </a:solidFill>
          <a:ln w="12700">
            <a:solidFill>
              <a:srgbClr val="3A7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33472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doors/mo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33472" y="1920240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Make-to-order: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· banks · hotels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9744" y="148132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D4E6B">
              <a:alpha val="75000"/>
            </a:srgbClr>
          </a:solidFill>
          <a:ln w="12700">
            <a:solidFill>
              <a:srgbClr val="3A7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9744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Family-Owned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9744" y="1920240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 of skilled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86016" y="1481328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D4E6B">
              <a:alpha val="75000"/>
            </a:srgbClr>
          </a:solidFill>
          <a:ln w="12700">
            <a:solidFill>
              <a:srgbClr val="3A7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86016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Certified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86016" y="1920240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quality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944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3697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Lean Manufacturing tools (VSM, Process Chart, Takt Time, OEE) to analyse the current production system, identify non-value-added waste, and propose data-driven solutions to transition from a push system to a synchronised pull system — increasing process efficiency from ~15% toward industry benchmarks.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05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identified: Overprocessing (Finishing) · Waiting (Paint→Oven) · Transportation (Bending→Assembly)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 II — 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Process &amp;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sequential steps · Fabrication → Painting → Finishing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508760"/>
            <a:ext cx="8138160" cy="274320"/>
          </a:xfrm>
          <a:prstGeom prst="roundRect">
            <a:avLst>
              <a:gd name="adj" fmla="val 16667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" y="1508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FABRICATION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1D4E6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2368296"/>
            <a:ext cx="109728" cy="0"/>
          </a:xfrm>
          <a:prstGeom prst="line">
            <a:avLst/>
          </a:prstGeom>
          <a:noFill/>
          <a:ln w="1905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09928" y="182880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1D4E6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55648" y="18745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44368" y="2368296"/>
            <a:ext cx="109728" cy="0"/>
          </a:xfrm>
          <a:prstGeom prst="line">
            <a:avLst/>
          </a:prstGeom>
          <a:noFill/>
          <a:ln w="1905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54096" y="182880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1D4E6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99816" y="18745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Inspect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88536" y="2368296"/>
            <a:ext cx="109728" cy="0"/>
          </a:xfrm>
          <a:prstGeom prst="line">
            <a:avLst/>
          </a:prstGeom>
          <a:noFill/>
          <a:ln w="1905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98264" y="182880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1D4E6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43984" y="18745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32704" y="2368296"/>
            <a:ext cx="109728" cy="0"/>
          </a:xfrm>
          <a:prstGeom prst="line">
            <a:avLst/>
          </a:prstGeom>
          <a:noFill/>
          <a:ln w="1905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42432" y="182880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1D4E6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88152" y="18745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76872" y="2368296"/>
            <a:ext cx="109728" cy="0"/>
          </a:xfrm>
          <a:prstGeom prst="line">
            <a:avLst/>
          </a:prstGeom>
          <a:noFill/>
          <a:ln w="1905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86600" y="182880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1D4E6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0" y="18745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40496" y="1508760"/>
            <a:ext cx="2761488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40496" y="150876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PAINTING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77072" y="182880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E8832A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22792" y="18745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811512" y="2368296"/>
            <a:ext cx="109728" cy="0"/>
          </a:xfrm>
          <a:prstGeom prst="line">
            <a:avLst/>
          </a:prstGeom>
          <a:noFill/>
          <a:ln w="1905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921240" y="182880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E8832A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966960" y="18745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375136" y="1508760"/>
            <a:ext cx="2761488" cy="274320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375136" y="150876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FINISHING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1411712" y="182880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457432" y="18745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2646152" y="2368296"/>
            <a:ext cx="109728" cy="0"/>
          </a:xfrm>
          <a:prstGeom prst="line">
            <a:avLst/>
          </a:prstGeom>
          <a:noFill/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2755880" y="1828800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2801600" y="1874520"/>
            <a:ext cx="1143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30175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Distribution — 692 min total lead time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310128"/>
            <a:ext cx="771822" cy="384048"/>
          </a:xfrm>
          <a:prstGeom prst="roundRect">
            <a:avLst>
              <a:gd name="adj" fmla="val 9524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37582" y="3310128"/>
            <a:ext cx="425737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3310128"/>
            <a:ext cx="7718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VA: 106.2 min (15.3%)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37582" y="3310128"/>
            <a:ext cx="4257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Non-Value-Added: 585.8 min (84.7%)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23560" y="3017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Delay Points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23560" y="3310128"/>
            <a:ext cx="32004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046720" y="331012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705856" y="331012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before production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46720" y="33101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304 min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23560" y="3611880"/>
            <a:ext cx="32004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046720" y="361188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705856" y="3611880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before assembly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46720" y="36118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30 min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23560" y="3913632"/>
            <a:ext cx="32004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046720" y="3913632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705856" y="391363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before accessory asm.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46720" y="39136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35 min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623560" y="4215384"/>
            <a:ext cx="32004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046720" y="4215384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705856" y="421538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before bending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046720" y="42153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 min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623560" y="4517136"/>
            <a:ext cx="32004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046720" y="4517136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705856" y="451713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before finishing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46720" y="45171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30 min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623560" y="4818888"/>
            <a:ext cx="32004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046720" y="481888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705856" y="481888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before paint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046720" y="48188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 min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623560" y="5120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transport: 41 m across 9 events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 II — METRICS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Takt Time &amp; OEE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measurements anchoring all improvement targets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name="adj" fmla="val 3478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TAKT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144.1 min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27066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035808"/>
            <a:ext cx="32004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time / shift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0360" y="31272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015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per 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34015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758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/ month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80360" y="36758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9502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/ month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80360" y="395020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Takt 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422452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÷ 3.33 = 144.1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517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E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cycle time 310 min &gt;&gt; Takt 144 min → bottleneck at Laser Cutting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15087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BREAKDOWN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8745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1D4E6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187452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18745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90%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897880" y="19202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97880" y="22037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&amp; changeover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62432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E8832A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2624328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262432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78%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897880" y="26700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97880" y="29535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losses; operators waiting on batches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374136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00600" y="3374136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337413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85%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897880" y="34198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897880" y="3703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in finishing; surface defects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412394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1B2A3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00600" y="4123944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0600" y="412394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59.5%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897880" y="41696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Score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897880" y="44531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× Performance × Quality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49194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OEE = 85%. At 59.5%, Jada has significant improvement potential.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 II — CURRENT VSM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VSM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 Time: 692 min  ·  Value-Added: 106.2 min (15.3%)  ·  Takt: 144.1 min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" y="23225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TIMES (Lead Time — before each process):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" y="254203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7472" y="2542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304 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444752" y="254203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444752" y="2542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 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42032" y="254203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42032" y="2542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90 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39312" y="254203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39312" y="2542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 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36592" y="254203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36592" y="2542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30 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33872" y="254203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33872" y="2542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 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31152" y="254203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31152" y="2542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 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028432" y="254203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028432" y="2542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35 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7472" y="290779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TIME (Value-Added):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" y="312724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7472" y="3127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 m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444752" y="312724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444752" y="3127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2.5 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42032" y="312724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542032" y="3127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 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39312" y="312724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639312" y="3127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6.2 m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36592" y="312724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736592" y="3127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 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833872" y="312724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833872" y="3127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6.5 m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931152" y="312724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931152" y="3127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55 m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028432" y="3127248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028432" y="3127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 m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47472" y="34930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C/A RATIO: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47472" y="37124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D4E6B">
              <a:alpha val="80000"/>
            </a:srgbClr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47472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90%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444752" y="37124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D4E6B">
              <a:alpha val="80000"/>
            </a:srgbClr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444752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85%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542032" y="37124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D4E6B">
              <a:alpha val="80000"/>
            </a:srgbClr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542032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95%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639312" y="37124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D4E6B">
              <a:alpha val="80000"/>
            </a:srgbClr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639312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95%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736592" y="37124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D4E6B">
              <a:alpha val="80000"/>
            </a:srgbClr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736592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80%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833872" y="37124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D4E6B">
              <a:alpha val="80000"/>
            </a:srgbClr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833872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83%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931152" y="37124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D4E6B">
              <a:alpha val="80000"/>
            </a:srgbClr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931152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90%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028432" y="37124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D4E6B">
              <a:alpha val="80000"/>
            </a:srgbClr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028432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95%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47472" y="4096512"/>
            <a:ext cx="8430768" cy="566928"/>
          </a:xfrm>
          <a:prstGeom prst="roundRect">
            <a:avLst>
              <a:gd name="adj" fmla="val 12903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347472" y="4096512"/>
            <a:ext cx="8430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·  Total LT: 507 min wait + 106.2 min process = 692 min  ·  Activity Ratio: 15.3%  ·  Workers: 13  ·  Takt: 144.1 min</a:t>
            </a:r>
            <a:endParaRPr lang="en-US" sz="1050" dirty="0"/>
          </a:p>
        </p:txBody>
      </p:sp>
      <p:sp>
        <p:nvSpPr>
          <p:cNvPr id="91" name="Text 18">
            <a:extLst>
              <a:ext uri="{FF2B5EF4-FFF2-40B4-BE49-F238E27FC236}">
                <a16:creationId xmlns:a16="http://schemas.microsoft.com/office/drawing/2014/main" id="{5C24980D-EADE-87AE-D0E1-056DA7A504E1}"/>
              </a:ext>
            </a:extLst>
          </p:cNvPr>
          <p:cNvSpPr/>
          <p:nvPr/>
        </p:nvSpPr>
        <p:spPr>
          <a:xfrm>
            <a:off x="3712464" y="2267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CT:7.2m</a:t>
            </a:r>
            <a:endParaRPr lang="en-US" sz="750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B41C12A9-2E57-EA62-ED2E-DBF21F065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426972"/>
            <a:ext cx="8695943" cy="1480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WASTE 1 — OVERPROCESSING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1: Overprocessing in Surface Finishing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standard — workers grind beyond what paint adhesion requires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536192"/>
            <a:ext cx="3017520" cy="1885881"/>
          </a:xfrm>
          <a:prstGeom prst="roundRect">
            <a:avLst>
              <a:gd name="adj" fmla="val 4000"/>
            </a:avLst>
          </a:prstGeom>
          <a:solidFill>
            <a:srgbClr val="F8F0E8"/>
          </a:solidFill>
          <a:ln w="254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0" y="15087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60720" y="3414037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Overprocessing — Factory Photo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Identified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operating procedure for surface finishing depth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grind/sand beyond specification — no 'good enough' criterion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NVA time without improving final coat adhesion or quality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+8 min/door of unnecessary finishing 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880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 Improvement Cycle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15568" y="3200400"/>
            <a:ext cx="4370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7008" y="3227832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Ra surface roughness specification required for paint adhesion. Draft SOP with visual gauge.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30168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63016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15568" y="3630168"/>
            <a:ext cx="4370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07008" y="365760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operators on spec. Display SOP at workstation. Implement tactile/visual finish standard.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05993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15568" y="4059936"/>
            <a:ext cx="4370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07008" y="4087368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finishing cycle time vs baseline. Track rework rate and paint adhesion failures.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489704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4897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15568" y="4489704"/>
            <a:ext cx="43708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07008" y="4517136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the improved procedure. Schedule quarterly audits. Update training materials.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937760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9377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Expected: ~8 min saved/door  ·  80 doors/month = 10.7 hrs/month reclaimed</a:t>
            </a:r>
            <a:endParaRPr lang="en-US" sz="9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C45CA20-2268-FFB0-54BE-AAC24CB5C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836" y="1617379"/>
            <a:ext cx="2874819" cy="17423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WASTE 2 — WAITING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2: Waiting — Paint → Oven Queue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poor inter-process communication, not synchronisation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1508760"/>
            <a:ext cx="301752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3794760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1B2A3B">
              <a:alpha val="85000"/>
            </a:srgbClr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3794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Paint Spray Stage — Jada Co.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Visual Signal Between Paint &amp; Oven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1810512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curing time not communicated to downstream accessory assembly team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released from oven before accessory team is ready → 35-min queue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status indicator: doors could be CURING, READY, or WAITING with no signal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= communication gap, not changeover → correct tool = Visual Management (not SMED)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2907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Factory Framework — Solution Design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5760" y="3218688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3273552"/>
            <a:ext cx="219456" cy="219456"/>
          </a:xfrm>
          <a:prstGeom prst="ellipse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8096" y="321868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Andon Board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14600" y="321868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oven status: CURING / READY / IDLE — visible to all operators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621024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3675888"/>
            <a:ext cx="219456" cy="219456"/>
          </a:xfrm>
          <a:prstGeom prst="ellipse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68096" y="36210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Ticket Cards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14600" y="36210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each door: oven-in time + expected exit time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4023360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" y="4078224"/>
            <a:ext cx="219456" cy="219456"/>
          </a:xfrm>
          <a:prstGeom prst="ellipse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68096" y="40233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Zone Marking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514600" y="402336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lanes: GREEN = ready for assembly, RED = still curing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4425696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7200" y="4480560"/>
            <a:ext cx="219456" cy="219456"/>
          </a:xfrm>
          <a:prstGeom prst="ellipse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68096" y="44256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 Chart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514600" y="442569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batch timing; triggers alert if curing cycle exceeds takt time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65760" y="4901184"/>
            <a:ext cx="5120640" cy="274320"/>
          </a:xfrm>
          <a:prstGeom prst="roundRect">
            <a:avLst>
              <a:gd name="adj" fmla="val 20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65760" y="49011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Expected: 35 min wait → 0 min  ·  ~16 min net saved/door  ·  80 doors = 21.3 hrs/month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WASTE 3 — TRANSPORTATION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3: Transportation — Non-Linear Material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 total · 9 transport events · Root cause: layout not aligned to process sequence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1508760"/>
            <a:ext cx="301752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3794760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1B2A3B">
              <a:alpha val="85000"/>
            </a:srgbClr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3794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Steel Sheet Transport — Jada Co.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1508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DMAIC Analysis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5760" y="1847088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84708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DEFINE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261872" y="1847088"/>
            <a:ext cx="422452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53312" y="1883664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 total transport. Non-linear paths: Bending→Assembly→Finishing. 9 events of heavy manual steel panel carries.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2423160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24231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MEASURE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261872" y="2423160"/>
            <a:ext cx="422452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53312" y="2459736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4.6 m per move. Estimated 12–18 min of pure movement time per door cycle.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2999232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299923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ANALYSE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2999232"/>
            <a:ext cx="422452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353312" y="3035808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not aligned to process sequence — Bending and Assembly not co-located, forcing backtracking.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75304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5760" y="357530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IMPROVE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261872" y="3575304"/>
            <a:ext cx="422452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353312" y="3611880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U-cell layout: co-locate Bending with Assembly. Reduce travel to &lt; 15 m (−63%). Use wheeled trolleys.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65760" y="4151376"/>
            <a:ext cx="822960" cy="475488"/>
          </a:xfrm>
          <a:prstGeom prst="roundRect">
            <a:avLst>
              <a:gd name="adj" fmla="val 13462"/>
            </a:avLst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65760" y="415137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CONTROL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261872" y="4151376"/>
            <a:ext cx="422452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353312" y="4187952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Painted floor lanes, shadow boards at each station, monthly travel-distance audit checklist.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65760" y="4754880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65760" y="47548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Expected: Travel 41 m → &lt; 15 m (−63%)  ·  12–18 min movement → &lt; 5 min  ·  80 doors = ~16 hrs/month saved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 II — BEFORE VS AFTER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vs Future State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impact of all three waste eliminations combined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2560320" cy="457200"/>
          </a:xfrm>
          <a:prstGeom prst="rect">
            <a:avLst/>
          </a:prstGeom>
          <a:solidFill>
            <a:srgbClr val="1B2A3B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99232" y="1508760"/>
            <a:ext cx="1828800" cy="457200"/>
          </a:xfrm>
          <a:prstGeom prst="rect">
            <a:avLst/>
          </a:prstGeom>
          <a:solidFill>
            <a:srgbClr val="1B2A3B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90672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19472" y="1508760"/>
            <a:ext cx="1828800" cy="457200"/>
          </a:xfrm>
          <a:prstGeom prst="rect">
            <a:avLst/>
          </a:prstGeom>
          <a:solidFill>
            <a:srgbClr val="1B2A3B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0912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39712" y="1508760"/>
            <a:ext cx="2560320" cy="457200"/>
          </a:xfrm>
          <a:prstGeom prst="rect">
            <a:avLst/>
          </a:prstGeom>
          <a:solidFill>
            <a:srgbClr val="1B2A3B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31152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1965960"/>
            <a:ext cx="25603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99232" y="196596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90672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692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9472" y="196596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442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39712" y="1965960"/>
            <a:ext cx="25603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31152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−250 min (−36%)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24231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99232" y="242316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90672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 min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19472" y="242316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106.2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39712" y="24231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31152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2880360"/>
            <a:ext cx="25603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8912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Ratio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99232" y="288036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90672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19472" y="288036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10912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39712" y="2880360"/>
            <a:ext cx="25603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31152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 percentage points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47472" y="33375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8912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Wait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99232" y="333756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090672" y="3337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19472" y="333756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10912" y="3337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39712" y="33375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931152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−65 min (SMED)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7472" y="3794760"/>
            <a:ext cx="25603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38912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Post-Oven Wait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99232" y="379476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090672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19472" y="379476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10912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39712" y="3794760"/>
            <a:ext cx="25603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31152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 min (Visual Mgmt)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47472" y="42519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38912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Distance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999232" y="425196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090672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919472" y="425196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10912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839712" y="4251960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931152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−63% (Layout U-Cell)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47472" y="4709160"/>
            <a:ext cx="25603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38912" y="4709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saved/month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999232" y="470916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090672" y="4709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919472" y="4709160"/>
            <a:ext cx="182880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10912" y="4709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+~48 hrs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839712" y="4709160"/>
            <a:ext cx="2560320" cy="457200"/>
          </a:xfrm>
          <a:prstGeom prst="rect">
            <a:avLst/>
          </a:prstGeom>
          <a:solidFill>
            <a:srgbClr val="F7FAFC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931152" y="4709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80 doors/month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47472" y="5074920"/>
            <a:ext cx="8430768" cy="292608"/>
          </a:xfrm>
          <a:prstGeom prst="roundRect">
            <a:avLst>
              <a:gd name="adj" fmla="val 18750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47472" y="5074920"/>
            <a:ext cx="8430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Tools applied: PDCA (Overprocessing) · Visual Management (Waiting) · DMAIC + Layout (Transportation) · Referenced: Lean_2, Lean_5, Lean_17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 II — BARRIERS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Barriers &amp; Responses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obstacles to lean implementation at Jada Company — and how to overcome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508760"/>
            <a:ext cx="4114800" cy="27432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Worker Resistance to Change — All 3 wastes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Involve operators early — let them co-design the SOP and floor zones. Run a 1-week pilot with a volunteer team. Show personal time-saving data to gain buy-in.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56032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EF5EC"/>
          </a:solidFill>
          <a:ln w="1905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2560320"/>
            <a:ext cx="4114800" cy="274320"/>
          </a:xfrm>
          <a:prstGeom prst="roundRect">
            <a:avLst>
              <a:gd name="adj" fmla="val 2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Layout Disruption During Production — Transportation (U-Cell)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871216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Schedule U-cell rearrangement over a weekend shutdown. Move one workstation at a time. Maintain a temporary walkway to avoid blocking daily output.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6118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EBF5FB"/>
          </a:solidFill>
          <a:ln w="1905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3611880"/>
            <a:ext cx="4114800" cy="274320"/>
          </a:xfrm>
          <a:prstGeom prst="roundRect">
            <a:avLst>
              <a:gd name="adj" fmla="val 26667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Andon Board Cost &amp; Maintenance — Waiting (Visual Mgmt)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922776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Start with a low-cost whiteboard Andon + timed ticket cards — zero electronics. Upgrade to digital only after pilot proves ROI. Maintenance = one designated operator.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81728" y="15087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EBF5EC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81728" y="1508760"/>
            <a:ext cx="4114800" cy="274320"/>
          </a:xfrm>
          <a:prstGeom prst="roundRect">
            <a:avLst>
              <a:gd name="adj" fmla="val 26667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SOP Not Followed After Training — Overprocessing (PDCA)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91456" y="1819656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Post laminated visual standard at every finishing station. Supervisor spot-checks during first 4 weeks. Monthly audit checklist with sign-off — make compliance visible.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81728" y="256032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DEDEC"/>
          </a:solidFill>
          <a:ln w="1905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81728" y="2560320"/>
            <a:ext cx="4114800" cy="274320"/>
          </a:xfrm>
          <a:prstGeom prst="roundRect">
            <a:avLst>
              <a:gd name="adj" fmla="val 26667"/>
            </a:avLst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73168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Family-Business Culture: Informal Habits — All 3 wastes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91456" y="2871216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Frame lean as protecting jobs and the family legacy — not replacing people. Present ROI in JD/month to owner. Gain one influential worker as lean champion to spread culture.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5029200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principle: Address cultural barriers first — tools fail without people commitment. (Lean_5)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 II — RECOMMENDATIONS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Jada Company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sequenced roadmap from quick wins to sustained lean culture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2743200" cy="502920"/>
          </a:xfrm>
          <a:prstGeom prst="roundRect">
            <a:avLst>
              <a:gd name="adj" fmla="val 16364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 · Quick Wins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2048256"/>
            <a:ext cx="27432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9050">
            <a:solidFill>
              <a:srgbClr val="1D4E6B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201168" cy="201168"/>
          </a:xfrm>
          <a:prstGeom prst="ellipse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67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3232" y="21396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Andon board + Timed Ticket Cards at oven exit (zero cost)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07208"/>
            <a:ext cx="201168" cy="201168"/>
          </a:xfrm>
          <a:prstGeom prst="ellipse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807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3232" y="277977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finishing SOP at surface grinding station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201168" cy="201168"/>
          </a:xfrm>
          <a:prstGeom prst="ellipse">
            <a:avLst/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3232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baseline: finishing time, post-oven wait, travel distance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55264" y="1508760"/>
            <a:ext cx="2743200" cy="502920"/>
          </a:xfrm>
          <a:prstGeom prst="roundRect">
            <a:avLst>
              <a:gd name="adj" fmla="val 16364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55264" y="15087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5526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2–3 · Structural Fix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55264" y="2048256"/>
            <a:ext cx="27432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9050">
            <a:solidFill>
              <a:srgbClr val="E8832A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64992" y="2167128"/>
            <a:ext cx="201168" cy="20116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2167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21024" y="21396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floor layout: U-cell — co-locate Bending with Assembly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64992" y="2807208"/>
            <a:ext cx="201168" cy="20116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64992" y="2807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21024" y="277977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SMED to Assembly changeover to reduce 90-min queue to 25 min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3447288"/>
            <a:ext cx="201168" cy="201168"/>
          </a:xfrm>
          <a:prstGeom prst="ellipse">
            <a:avLst/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64992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21024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painted floor zones: green (ready), red (curing)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63056" y="1508760"/>
            <a:ext cx="2743200" cy="502920"/>
          </a:xfrm>
          <a:prstGeom prst="roundRect">
            <a:avLst>
              <a:gd name="adj" fmla="val 16364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63056" y="15087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 · Sustain &amp; Expand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63056" y="2048256"/>
            <a:ext cx="27432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72784" y="2167128"/>
            <a:ext cx="201168" cy="20116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72784" y="2167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28816" y="21396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all SOPs; conduct first quarterly audit with sign-off checklist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72784" y="2807208"/>
            <a:ext cx="201168" cy="20116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72784" y="2807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28816" y="277977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5S to all workstations; introduce Kanban card system for raw materials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72784" y="3447288"/>
            <a:ext cx="201168" cy="20116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72784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28816" y="34198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OEE improvement: 59.5% → 70%+ through focused maintenance rounds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7472" y="4251960"/>
            <a:ext cx="8430768" cy="73152"/>
          </a:xfrm>
          <a:prstGeom prst="round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47472" y="4352544"/>
            <a:ext cx="2011680" cy="749808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0624" y="4407408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matters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20624" y="462686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SMED before reducing batch sizes — wrong order worsens performance (Lean_5)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23744" y="4352544"/>
            <a:ext cx="2011680" cy="749808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596896" y="4407408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financials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596896" y="462686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every saved minute into JD cost — management responds to money, not metrics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00016" y="4352544"/>
            <a:ext cx="2011680" cy="749808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73168" y="4407408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first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73168" y="462686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fails without cultural change. One lean champion on the floor is worth 10 training days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76288" y="4352544"/>
            <a:ext cx="2011680" cy="749808"/>
          </a:xfrm>
          <a:prstGeom prst="roundRect">
            <a:avLst>
              <a:gd name="adj" fmla="val 8537"/>
            </a:avLst>
          </a:prstGeom>
          <a:solidFill>
            <a:srgbClr val="F0F4F8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49440" y="4407408"/>
            <a:ext cx="1865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review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49440" y="4626864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KPI board: LT, activity ratio, OEE, travel distance. Make progress visible to all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 II — FUTURE VSM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404493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VSM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-35719" y="960120"/>
            <a:ext cx="1005840" cy="731520"/>
          </a:xfrm>
          <a:prstGeom prst="roundRect">
            <a:avLst>
              <a:gd name="adj" fmla="val 8750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r>
              <a:rPr lang="en-US" dirty="0"/>
              <a:t>Omar</a:t>
            </a:r>
          </a:p>
        </p:txBody>
      </p:sp>
      <p:sp>
        <p:nvSpPr>
          <p:cNvPr id="8" name="Text 6"/>
          <p:cNvSpPr/>
          <p:nvPr/>
        </p:nvSpPr>
        <p:spPr>
          <a:xfrm>
            <a:off x="347472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CT:310m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3758184"/>
            <a:ext cx="1005840" cy="731520"/>
          </a:xfrm>
          <a:prstGeom prst="roundRect">
            <a:avLst>
              <a:gd name="adj" fmla="val 8750"/>
            </a:avLst>
          </a:prstGeom>
          <a:solidFill>
            <a:srgbClr val="1D4E6B"/>
          </a:solidFill>
          <a:ln w="12700">
            <a:solidFill>
              <a:srgbClr val="1D4E6B"/>
            </a:solidFill>
            <a:prstDash val="solid"/>
          </a:ln>
        </p:spPr>
        <p:txBody>
          <a:bodyPr/>
          <a:lstStyle/>
          <a:p>
            <a:r>
              <a:rPr lang="en-US" dirty="0" err="1"/>
              <a:t>Ibrihem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44752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CT:22.5m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90672" y="113385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SMED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KAIZEN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8028432" y="1527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28432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CT:48m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0" y="41879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0" y="43891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−65 min</a:t>
            </a:r>
            <a:endParaRPr lang="en-US" sz="950" dirty="0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146426CC-8EC6-AE73-1DA2-755CCE80D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21" y="872432"/>
            <a:ext cx="8036719" cy="1892199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3968F672-6BE1-19E7-94F2-E385D70AF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419" y="2665722"/>
            <a:ext cx="7969853" cy="25009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push to pull — Jada Company's lean transformation roadmap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1D4E6B">
              <a:alpha val="85000"/>
            </a:srgbClr>
          </a:solidFill>
          <a:ln w="25400">
            <a:solidFill>
              <a:srgbClr val="1D4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(Surface Finishing)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2057400" cy="1828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PDCA + SOP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 saved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572768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E8832A">
              <a:alpha val="85000"/>
            </a:srgbClr>
          </a:solidFill>
          <a:ln w="254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(Paint → Oven)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2103120"/>
            <a:ext cx="2057400" cy="1828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21762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Visual Management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(Andon, Timed Cards, Zones)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2578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 queue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572768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1E8449">
              <a:alpha val="85000"/>
            </a:srgbClr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645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(Bending → Assembly)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103120"/>
            <a:ext cx="2057400" cy="1828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1762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DMAIC + U-Cell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Redesign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26480" y="2578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 → &lt;80 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E8832A"/>
          </a:solidFill>
          <a:ln w="12700">
            <a:solidFill>
              <a:srgbClr val="E883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26060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−250 min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7200" y="4332427"/>
            <a:ext cx="26060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Saved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(692→442 min)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3749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3794760"/>
            <a:ext cx="26060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15.3%→23.3%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291840" y="4332427"/>
            <a:ext cx="26060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Ratio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37490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3794760"/>
            <a:ext cx="26060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 hrs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26480" y="4332427"/>
            <a:ext cx="26060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Reclaimed per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(80 doors)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HTU 101366 · Omar Abdeljalil 23110604 · Eng. Veellage Al-Quraan · Ibrahim Jada · Lean_2, Lean_5, Lean_17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1972</Words>
  <Application>Microsoft Office PowerPoint</Application>
  <PresentationFormat>On-screen Show (16:9)</PresentationFormat>
  <Paragraphs>343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OMAR ABDALJALEEL</cp:lastModifiedBy>
  <cp:revision>2</cp:revision>
  <dcterms:created xsi:type="dcterms:W3CDTF">2026-06-12T08:59:51Z</dcterms:created>
  <dcterms:modified xsi:type="dcterms:W3CDTF">2026-06-15T07:36:02Z</dcterms:modified>
</cp:coreProperties>
</file>